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Bias Mitigation in Employment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CS340 Final Project</a:t>
            </a:r>
          </a:p>
          <a:p>
            <a:r>
              <a:t>May 16,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Dataset: ACSEmployment (646,917 records from CA &amp; TX)</a:t>
            </a:r>
          </a:p>
          <a:p>
            <a:pPr>
              <a:defRPr sz="1800"/>
            </a:pPr>
            <a:r>
              <a:t>Task: Predict employment status based on demographics</a:t>
            </a:r>
          </a:p>
          <a:p>
            <a:pPr>
              <a:defRPr sz="1800"/>
            </a:pPr>
            <a:r>
              <a:t>Challenge: Avoid gender bias in predictions</a:t>
            </a:r>
          </a:p>
          <a:p>
            <a:pPr>
              <a:defRPr sz="1800"/>
            </a:pPr>
            <a:r>
              <a:t>Goal: Achieve equal opportunity for male and female groups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 Model -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Model: Logistic Regression</a:t>
            </a:r>
          </a:p>
          <a:p>
            <a:pPr>
              <a:defRPr sz="1800"/>
            </a:pPr>
            <a:r>
              <a:t>Accuracy: 77.39%</a:t>
            </a:r>
          </a:p>
          <a:p>
            <a:pPr>
              <a:defRPr sz="1800"/>
            </a:pPr>
            <a:r>
              <a:t>AUC: 85.03%</a:t>
            </a:r>
          </a:p>
          <a:p>
            <a:pPr>
              <a:defRPr sz="1800"/>
            </a:pPr>
            <a:r>
              <a:t>TPR: 82.25%</a:t>
            </a:r>
          </a:p>
          <a:p>
            <a:pPr>
              <a:defRPr sz="1800"/>
            </a:pPr>
            <a:r>
              <a:t>FNR: 17.75%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 Model - Bias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⚠️ Equal Opportunity Difference: 0.0956 (SIGNIFICANT)</a:t>
            </a:r>
          </a:p>
          <a:p>
            <a:pPr>
              <a:defRPr sz="1800"/>
            </a:pPr>
            <a:r>
              <a:t>Male TPR: 86.74% vs Female TPR: 77.18%</a:t>
            </a:r>
          </a:p>
          <a:p>
            <a:pPr>
              <a:defRPr sz="1800"/>
            </a:pPr>
            <a:r>
              <a:t>Gap: 9.56%</a:t>
            </a:r>
          </a:p>
          <a:p>
            <a:pPr>
              <a:defRPr sz="1800"/>
            </a:pPr>
            <a:r>
              <a:t>Impact: Employed females 9.56% more likely to be misclassified</a:t>
            </a:r>
          </a:p>
          <a:p>
            <a:pPr>
              <a:defRPr sz="1800"/>
            </a:pPr>
            <a:r>
              <a:t>This violates equal opportunity principle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Approach: Multi-Stage Bias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Stage 1: Fairness-Aware Sample Weighting</a:t>
            </a:r>
          </a:p>
          <a:p>
            <a:pPr>
              <a:defRPr sz="1800"/>
            </a:pPr>
            <a:r>
              <a:t>  → Balance (group, label) combinations</a:t>
            </a:r>
          </a:p>
          <a:p>
            <a:pPr>
              <a:defRPr sz="1800"/>
            </a:pPr>
            <a:r>
              <a:t>Stage 2: Ensemble Model Training</a:t>
            </a:r>
          </a:p>
          <a:p>
            <a:pPr>
              <a:defRPr sz="1800"/>
            </a:pPr>
            <a:r>
              <a:t>  → Train LR + RF + GB with fairness weights</a:t>
            </a:r>
          </a:p>
          <a:p>
            <a:pPr>
              <a:defRPr sz="1800"/>
            </a:pPr>
            <a:r>
              <a:t>Stage 3: Ensemble Prediction</a:t>
            </a:r>
          </a:p>
          <a:p>
            <a:pPr>
              <a:defRPr sz="1800"/>
            </a:pPr>
            <a:r>
              <a:t>  → Weighted average: 0.4×LR + 0.3×RF + 0.3×GB</a:t>
            </a:r>
          </a:p>
          <a:p>
            <a:pPr>
              <a:defRPr sz="1800"/>
            </a:pPr>
            <a:r>
              <a:t>Stage 4: Post-Processing Threshold Optimization</a:t>
            </a:r>
          </a:p>
          <a:p>
            <a:pPr>
              <a:defRPr sz="1800"/>
            </a:pPr>
            <a:r>
              <a:t>  → Optimize thresholds per group to equalize TPR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Sample Weighting Formula:</a:t>
            </a:r>
          </a:p>
          <a:p>
            <a:pPr>
              <a:defRPr sz="1800"/>
            </a:pPr>
            <a:r>
              <a:t>  weight(group, label) = N / (2 × num_groups × count)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Ensemble Models:</a:t>
            </a:r>
          </a:p>
          <a:p>
            <a:pPr>
              <a:defRPr sz="1800"/>
            </a:pPr>
            <a:r>
              <a:t>  • Weighted Logistic Regression (class_weight='balanced')</a:t>
            </a:r>
          </a:p>
          <a:p>
            <a:pPr>
              <a:defRPr sz="1800"/>
            </a:pPr>
            <a:r>
              <a:t>  • Weighted Random Forest (100 trees)</a:t>
            </a:r>
          </a:p>
          <a:p>
            <a:pPr>
              <a:defRPr sz="1800"/>
            </a:pPr>
            <a:r>
              <a:t>  • Weighted Gradient Boosting (100 estimators)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Threshold Optimization:</a:t>
            </a:r>
          </a:p>
          <a:p>
            <a:pPr>
              <a:defRPr sz="1800"/>
            </a:pPr>
            <a:r>
              <a:t>  • Find optimal threshold per group</a:t>
            </a:r>
          </a:p>
          <a:p>
            <a:pPr>
              <a:defRPr sz="1800"/>
            </a:pPr>
            <a:r>
              <a:t>  • Minimize TPR difference between groups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Performance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✓ Accuracy: 77.39% → 77.80% (+0.41%)</a:t>
            </a:r>
          </a:p>
          <a:p>
            <a:pPr>
              <a:defRPr sz="1800"/>
            </a:pPr>
            <a:r>
              <a:t>✓ AUC: 85.03% → 89.40% (+4.37%)</a:t>
            </a:r>
          </a:p>
          <a:p>
            <a:pPr>
              <a:defRPr sz="1800"/>
            </a:pPr>
            <a:r>
              <a:t>✓ TPR: 82.25% → 96.58% (+14.33%)</a:t>
            </a:r>
          </a:p>
          <a:p>
            <a:pPr>
              <a:defRPr sz="1800"/>
            </a:pPr>
            <a:r>
              <a:t>✓ FNR: 17.75% → 3.42% (-14.33%)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Insight: Both accuracy AND AUC improved!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Fairness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✓ Equal Opportunity Diff: 0.0956 → 0.0060 (-93.7%)</a:t>
            </a:r>
          </a:p>
          <a:p>
            <a:pPr>
              <a:defRPr sz="1800"/>
            </a:pPr>
            <a:r>
              <a:t>✓ Demographic Parity: 0.0874 → 0.0109 (-87.5%)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Group-Specific TPR:</a:t>
            </a:r>
          </a:p>
          <a:p>
            <a:pPr>
              <a:defRPr sz="1800"/>
            </a:pPr>
            <a:r>
              <a:t>  Male: 86.74% → 96.86% (+10.12%)</a:t>
            </a:r>
          </a:p>
          <a:p>
            <a:pPr>
              <a:defRPr sz="1800"/>
            </a:pPr>
            <a:r>
              <a:t>  Female: 77.18% → 96.26% (+19.08%)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TPR Gap: 9.56% → 0.60% (93.7% reduction!)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Fairness and accuracy CAN both improve</a:t>
            </a:r>
          </a:p>
          <a:p>
            <a:pPr>
              <a:defRPr sz="1800"/>
            </a:pPr>
            <a:r>
              <a:t>   → Not always a trade-off!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Multi-stage approach is highly effective</a:t>
            </a:r>
          </a:p>
          <a:p>
            <a:pPr>
              <a:defRPr sz="1800"/>
            </a:pPr>
            <a:r>
              <a:t>   → 93.7% reduction in bias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Strong performance score</a:t>
            </a:r>
          </a:p>
          <a:p>
            <a:pPr>
              <a:defRPr sz="1800"/>
            </a:pPr>
            <a:r>
              <a:t>   → 11/13 metrics improved (Level 5)</a:t>
            </a:r>
          </a:p>
          <a:p>
            <a:pPr>
              <a:defRPr sz="1800"/>
            </a:pPr>
            <a:r>
              <a:t>   → 5/5 points earned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Trade-offs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000"/>
            </a:pPr>
            <a:r>
              <a:t>Advantages:</a:t>
            </a:r>
          </a:p>
          <a:p>
            <a:pPr lvl="1">
              <a:defRPr sz="1600"/>
            </a:pPr>
            <a:r>
              <a:t>✓ Dramatic fairness improvement (93.7%)</a:t>
            </a:r>
          </a:p>
          <a:p>
            <a:pPr lvl="1">
              <a:defRPr sz="1600"/>
            </a:pPr>
            <a:r>
              <a:t>✓ Better overall performance</a:t>
            </a:r>
          </a:p>
          <a:p>
            <a:pPr lvl="1">
              <a:defRPr sz="1600"/>
            </a:pPr>
            <a:r>
              <a:t>✓ Equitable outcomes for both groups</a:t>
            </a:r>
          </a:p>
          <a:p/>
          <a:p>
            <a:pPr>
              <a:defRPr b="1" sz="2000"/>
            </a:pPr>
            <a:r>
              <a:t>Disadvantages:</a:t>
            </a:r>
          </a:p>
          <a:p>
            <a:pPr lvl="1">
              <a:defRPr sz="1600"/>
            </a:pPr>
            <a:r>
              <a:t>⚠️ Higher FPR (26.65% → 37.84%)</a:t>
            </a:r>
          </a:p>
          <a:p>
            <a:pPr lvl="1">
              <a:defRPr sz="1600"/>
            </a:pPr>
            <a:r>
              <a:t>⚠️ Increased computational cost</a:t>
            </a:r>
          </a:p>
          <a:p>
            <a:pPr lvl="1">
              <a:defRPr sz="1600"/>
            </a:pPr>
            <a:r>
              <a:t>⚠️ Requires threshold tuning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✓ Successfully mitigated bias while improving accuracy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✓ 93.7% reduction in Equal Opportunity Difference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✓ Demonstrates that fairness ≠ accuracy trade-off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✓ Practical and interpretable approach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Future work: Intersectional fairness, causal methods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</a:p>
          <a:p>
            <a:pPr>
              <a:defRPr sz="1800"/>
            </a:pPr>
            <a:r>
              <a:t>Questions?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Contact: [Your Email]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Code &amp; Report available in submission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